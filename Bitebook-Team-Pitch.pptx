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0835" autoAdjust="0"/>
  </p:normalViewPr>
  <p:slideViewPr>
    <p:cSldViewPr snapToGrid="0" snapToObjects="1">
      <p:cViewPr varScale="1">
        <p:scale>
          <a:sx n="58" d="100"/>
          <a:sy n="58" d="100"/>
        </p:scale>
        <p:origin x="658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
"Bitebook is a food diary. Dish-first, dark, image-first, and social when you want it to be."
SAY
- Tagline is the product spec: log it, rate it, remember it.
- Two of three build phases are done. I'm here to show you where we are and what I need to finish it.
- Roughly 15 minutes, then questions.
TONE
Confident but straight. There's real progress here and one honest gap — I'll flag it on the status slide rather than bury it.
TIMING: ~45 sec. Don't linger.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
"By the end you'll know what Bitebook is, how it's built, what it costs to run, and what I need decided today."
- Signpost that the asks are at the end — it stops people front-running the decision.
- If the room is technical, offer to go deeper on architecture and security; if it's not, promise to keep those two slides short.
TIMING: ~30 sec. Read the headings, don't narrate all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
This is a gap, not a crowded market we're late to.
SAY
- Yelp and Tripadvisor are directories. They help you choose a restaurant; they don't remember what you ate.
- Letterboxd is the proof: log, rate, follow friends. It works for film and there's no food equivalent.
- Ask the room: "can anyone tell me the best thing they ate three months ago?" Nobody can. That's the product.
IF CHALLENGED
"Isn't this Instagram?" — Instagram is a feed you broadcast to. This is a private record you keep for yourself, that happens to be shareable.
TIMING: ~90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
The dish is the core object. Everything else hangs off it.
SAY
- That one decision is what separates us from every restaurant app: we index dishes, not venues.
- Private by default matters — people will log honestly only if it isn't broadcast.
- The 30-second number is the real constraint. If logging is slow, people do it for special meals only and the diary dies.
IF CHALLENGED
"Why not just clone Yelp?" — Because the review-a-restaurant market is solved and we'd be fifth. Nobody owns the personal record.
TIMING: ~90 sec. The &lt; 30 sec card is the line to land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
This loop is the entire product. Everything we build serves it.
SAY
- Walk it once, left to right, one short sentence per step. Don't read the cards.
- Emphasise step 3: logging is always private. Sharing is a separate, deliberate action at step 4.
- Land the closing line: every log makes the next person's discovery better. That's the compounding effect.
IF CHALLENGED
"What's the cold-start?" — Honest answer: the diary has standalone value on day one, so it works with zero friends. Social is upside, not a dependency.
TIMING: ~2 min. This is the slide to slow down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— BE STRAIGHT HERE
Two phases done. The backend is code-complete but has never run against a live database.
SAY
- Say the caveat out loud; don't let people read it off the slide and feel it was buried.
- The sequence was deliberate: prove the product and UX first, then spend on backend. That's why Phase 1 ran on mock data.
- Phase 3 is deliberately not started — it's the phase that costs money, so it's gated on today's decisions.
IF CHALLENGED
"So is it nearly done?" — No. It's well advanced and unverified. Verification is the very next step and it's on the roadmap slide.
TIMING: ~2 min. The most important credibility moment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
This is committed scope, not a wish list — every item maps to a database table that exists today.
SAY
- Don't read all six. Call out the diary, ratings and the social graph, then say the rest are built the same way.
- Preference onboarding is the seed for recommendations later — worth flagging as future value, but not promising it.
IF CHALLENGED
"What's deliberately out?" — Recommendations, messaging, and restaurant-owner tooling. All post-MVP.
TIMING: ~60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
Two vendors, one client, one backend. Deliberately boring.
SAY
- Keep this short for a non-technical room — the next slide does the visual work.
- The point worth making: a small dependency set and centralised data access means fewer places for things to break and a cheaper handover.
- One shared Supabase client, one shared auth context, all data access in one module.
IF CHALLENGED
"Why Supabase over building our own?" — Auth, storage, Postgres and functions in one managed product. Building that ourselves costs months we don't need to spend.
TIMING: ~45 sec. Move through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WALK IT
Top to bottom: client → Supabase → the optional external provider. Three beats, nothing more.
SAY
- Only the public anon key ships in the app. No secrets in the client — that's the headline.
- Four pillars in one project: Auth, Postgres with PostGIS, Storage, Edge Functions.
- PostGIS is what makes "restaurants near me" fast instead of scanning the whole table.
- The dashed box is the one thing not switched on: a real restaurant provider, wired through the places-import function when we decide to pay for it.
IF CHALLENGED
"Is the anon key a risk?" — No. It's designed to be public; Row Level Security is what protects the data. That's the next slide.
TIMING: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
Security is enforced in the database, not in the app. App code can be bypassed; Postgres policies can't.
SAY
- 22 tables, Row Level Security on every one, never switched off for convenience.
- Visibility (public / followers / private) is a database rule, so a bug in a screen can't leak a private review.
- Photos sit in a private bucket — access is policy-checked, not hidden behind an unguessable URL.
- Counters are trigger-maintained, so nobody can inflate their own numbers.
IF THE ROOM ISN'T TECHNICAL
Compress to one line: "privacy is enforced by the database itself, not by the app trusting itself."
TIMING: ~90 sec, or 30 sec for a non-technical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
This is cheap to run until it's genuinely successful.
SAY
- Walk the four stages left to right, quoting only the headline totals: about $8, $50–70, $80–300, then $350–650+.
- Pilot is effectively free — the only real cost is the Apple developer fee.
- Be explicit: these are engineering estimates from public pricing as of September 2026, not vendor quotes. Re-check before anyone puts them in a budget.
- Google Places is usage-based and deliberately switched off, so it isn't in these numbers.
IF CHALLENGED
"What if we go viral?" — Costs move with storage and egress, so a spike is real. That's on the risk slide and the mitigation is usage alerts before public launch.
TIMING: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
Four sequential steps. Nothing here is a big-bang rewrite.
SAY
- Now: verify the backend against a live Supabase project — migrations, RLS, tests. This closes the gap I flagged earlier.
- Next: replace mock data screen by screen, so the app stays working throughout.
- Then: the restaurant provider, behind cost controls that are already written — debounced search, five-minute cache, minimal field mask.
- After: closed beta before we go anywhere near the app stores.
IF ASKED FOR DATES
Don't invent one. Say the first step is days not weeks, and you'll come back with a dated plan once Phase 3 scope is signed off.
TIMING: ~90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
Raise these yourself. It's far better than having someone find them later.
SAY
- The unverified backend is the one that matters. Own it plainly: no real user data touches it until it's verified.
- Fixture data means Discover and search aren't real yet — don't let a demo imply otherwise.
- Store review timelines are outside our control; build slack into any launch date you commit to.
- A usage spike moves the bill quickly. Alerts go in before public launch.
TONE
Matter-of-fact, with a mitigation for each. Every one of these has a next step on the roadmap slide.
TIMING: ~90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THE MEETING — don't rush this slide.
SAY
- Ask for each one directly and then stop talking. Let them answer.
- 01 Store fees: small, fixed, and they unlock device testing and submission. Easiest yes — lead with it.
- 02 Supabase Pro: needed before any real user data. Ask for a decision on timing, not a blank cheque.
- 03 Phase 3 scope: sign-off on real data wiring plus provider selection.
- 04 Beta volunteers: get names in the room, not "we'll circulate something."
CLOSE
"If I get those four things today, the next milestone is a verified backend and a working app on real data."
TIMING: ~2 min plus discussion. Protect this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— only open this if someone asks for a source.
SAY
- Everything is written up: the repository, a full technical handover, the database architecture, and the product spec.
- Offer to send the links rather than reading them out.
IF YOU'RE OUT OF TIME
Skip straight past it and return to the asks slide for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005840" y="202996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BITEBOOK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9264" y="2359152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it. Rate it.</a:t>
            </a:r>
            <a:endParaRPr lang="en-US" sz="52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 it.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1005840" y="4352544"/>
            <a:ext cx="1371600" cy="27432"/>
          </a:xfrm>
          <a:prstGeom prst="rect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05840" y="4553712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dish-first food diary that's also social.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+ Phase 2 built — here's what's next.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5943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· Confidential · September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973568" y="1481328"/>
            <a:ext cx="3584448" cy="1115568"/>
          </a:xfrm>
          <a:prstGeom prst="roundRect">
            <a:avLst>
              <a:gd name="adj" fmla="val 4918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973568" y="1481328"/>
            <a:ext cx="45720" cy="111556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229600" y="163677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0" y="1984248"/>
            <a:ext cx="31455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dish, privately, in under 30 seconds.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73568" y="2798064"/>
            <a:ext cx="3584448" cy="1115568"/>
          </a:xfrm>
          <a:prstGeom prst="roundRect">
            <a:avLst>
              <a:gd name="adj" fmla="val 4918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973568" y="2798064"/>
            <a:ext cx="45720" cy="1115568"/>
          </a:xfrm>
          <a:prstGeom prst="rect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29600" y="29535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3300984"/>
            <a:ext cx="31455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Dish-level ratings and reviews with photos.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73568" y="4114800"/>
            <a:ext cx="3584448" cy="1115568"/>
          </a:xfrm>
          <a:prstGeom prst="roundRect">
            <a:avLst>
              <a:gd name="adj" fmla="val 4918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973568" y="4114800"/>
            <a:ext cx="45720" cy="1115568"/>
          </a:xfrm>
          <a:prstGeom prst="rect">
            <a:avLst/>
          </a:prstGeom>
          <a:solidFill>
            <a:srgbClr val="3FD0C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229600" y="42702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4617720"/>
            <a:ext cx="31455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searchable history of everything you've eaten.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>
            <a:spLocks/>
          </p:cNvSpPr>
          <p:nvPr/>
        </p:nvSpPr>
        <p:spPr>
          <a:xfrm>
            <a:off x="0" y="6455664"/>
            <a:ext cx="12191695" cy="10973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10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Bitebook — Internal ·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37215" y="65105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346040" cy="1243584"/>
          </a:xfrm>
          <a:prstGeom prst="roundRect">
            <a:avLst>
              <a:gd name="adj" fmla="val 4412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50976" y="184708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92224" y="1828800"/>
            <a:ext cx="397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92224" y="2194560"/>
            <a:ext cx="397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 food equivalent of Letterboxd exists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05576" y="1572768"/>
            <a:ext cx="5346040" cy="1243584"/>
          </a:xfrm>
          <a:prstGeom prst="roundRect">
            <a:avLst>
              <a:gd name="adj" fmla="val 4412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516472" y="184708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57720" y="1828800"/>
            <a:ext cx="397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 &amp; Core Loop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57720" y="2194560"/>
            <a:ext cx="397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Dish-first, private-by-default, social by choice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054096"/>
            <a:ext cx="5346040" cy="1243584"/>
          </a:xfrm>
          <a:prstGeom prst="roundRect">
            <a:avLst>
              <a:gd name="adj" fmla="val 4412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50976" y="332841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792224" y="3310128"/>
            <a:ext cx="397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Already Built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92224" y="3675888"/>
            <a:ext cx="397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and Phase 2, honestly assessed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05576" y="3054096"/>
            <a:ext cx="5346040" cy="1243584"/>
          </a:xfrm>
          <a:prstGeom prst="roundRect">
            <a:avLst>
              <a:gd name="adj" fmla="val 4412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516472" y="332841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57720" y="3310128"/>
            <a:ext cx="397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Stack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57720" y="3675888"/>
            <a:ext cx="397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client, one backend, no secrets shipped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535424"/>
            <a:ext cx="5346040" cy="1243584"/>
          </a:xfrm>
          <a:prstGeom prst="roundRect">
            <a:avLst>
              <a:gd name="adj" fmla="val 4412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50976" y="480974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792224" y="4791456"/>
            <a:ext cx="397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Projected Costs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92224" y="5157216"/>
            <a:ext cx="397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to scale, stage by stage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05576" y="4535424"/>
            <a:ext cx="5346040" cy="1243584"/>
          </a:xfrm>
          <a:prstGeom prst="roundRect">
            <a:avLst>
              <a:gd name="adj" fmla="val 4412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516472" y="480974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357720" y="4791456"/>
            <a:ext cx="397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Roadmap, Risks &amp; Asks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57720" y="5157216"/>
            <a:ext cx="397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need from you today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There's no food equivalent of Letterboxd</a:t>
            </a:r>
            <a:endParaRPr lang="en-US" sz="30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640080" y="1188720"/>
            <a:ext cx="89474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a gap, not a crowded market we're late 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10973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6510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Bitebook — Internal ·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5105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327752" cy="1828800"/>
          </a:xfrm>
          <a:prstGeom prst="roundRect">
            <a:avLst>
              <a:gd name="adj" fmla="val 300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69264" y="2194560"/>
            <a:ext cx="384048" cy="41148"/>
          </a:xfrm>
          <a:prstGeom prst="rect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69264" y="2377440"/>
            <a:ext cx="4669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Directories, not diaries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9264" y="2852928"/>
            <a:ext cx="46693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Yelp and Tripadvisor index restaurants. Neither remembers what you actually 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3864" y="1828800"/>
            <a:ext cx="5327752" cy="1828800"/>
          </a:xfrm>
          <a:prstGeom prst="roundRect">
            <a:avLst>
              <a:gd name="adj" fmla="val 300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553048" y="2194560"/>
            <a:ext cx="384048" cy="411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553048" y="2377440"/>
            <a:ext cx="4669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Letterboxd proved the demand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53048" y="2852928"/>
            <a:ext cx="46693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love logging, rating and following friends — for film. Nothing does this for food.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13632"/>
            <a:ext cx="5327752" cy="1828800"/>
          </a:xfrm>
          <a:prstGeom prst="roundRect">
            <a:avLst>
              <a:gd name="adj" fmla="val 300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969264" y="4279392"/>
            <a:ext cx="384048" cy="41148"/>
          </a:xfrm>
          <a:prstGeom prst="rect">
            <a:avLst/>
          </a:prstGeom>
          <a:solidFill>
            <a:srgbClr val="3FD0C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69264" y="4462272"/>
            <a:ext cx="4669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searchable history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9264" y="4937760"/>
            <a:ext cx="46693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Nobody has a private record of everything they've eaten and rated.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23864" y="3913632"/>
            <a:ext cx="5327752" cy="1828800"/>
          </a:xfrm>
          <a:prstGeom prst="roundRect">
            <a:avLst>
              <a:gd name="adj" fmla="val 300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553048" y="4279392"/>
            <a:ext cx="384048" cy="4114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553048" y="4462272"/>
            <a:ext cx="46693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dish is an afterthought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53048" y="4937760"/>
            <a:ext cx="46693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apps are restaurant-first. The dish is the thing people actually care about.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THE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Dish-first, not restaurant-first</a:t>
            </a:r>
            <a:endParaRPr lang="en-US" sz="3000" dirty="0"/>
          </a:p>
        </p:txBody>
      </p:sp>
      <p:sp>
        <p:nvSpPr>
          <p:cNvPr id="4" name="Shape 2"/>
          <p:cNvSpPr>
            <a:spLocks/>
          </p:cNvSpPr>
          <p:nvPr/>
        </p:nvSpPr>
        <p:spPr>
          <a:xfrm>
            <a:off x="0" y="6455664"/>
            <a:ext cx="12191695" cy="10973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10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Bitebook — Internal ·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37215" y="65105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517904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dish is the core object.</a:t>
            </a:r>
            <a:endParaRPr lang="en-US" sz="26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restaurant is just where you had it.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188720" cy="2743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" y="3419856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Inspired by Letterboxd's logging mechanic — an original product in every other respect. Explicitly not another Yelp or Tripadvisor clone.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5394960" cy="1225296"/>
          </a:xfrm>
          <a:prstGeom prst="roundRect">
            <a:avLst>
              <a:gd name="adj" fmla="val 4478"/>
            </a:avLst>
          </a:prstGeom>
          <a:solidFill>
            <a:srgbClr val="1E1E26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50976" y="47731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30 sec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50976" y="532180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log a meal — speed is the product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19088" y="1517904"/>
            <a:ext cx="5120640" cy="969264"/>
          </a:xfrm>
          <a:prstGeom prst="roundRect">
            <a:avLst>
              <a:gd name="adj" fmla="val 566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419088" y="1517904"/>
            <a:ext cx="45720" cy="969264"/>
          </a:xfrm>
          <a:prstGeom prst="rect">
            <a:avLst/>
          </a:prstGeom>
          <a:solidFill>
            <a:srgbClr val="3FD0C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675120" y="16459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by default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1965960"/>
            <a:ext cx="4700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privately. Share publicly only when you choose to.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19088" y="2633472"/>
            <a:ext cx="5120640" cy="969264"/>
          </a:xfrm>
          <a:prstGeom prst="roundRect">
            <a:avLst>
              <a:gd name="adj" fmla="val 566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419088" y="2633472"/>
            <a:ext cx="45720" cy="969264"/>
          </a:xfrm>
          <a:prstGeom prst="rect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675120" y="27614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when you want 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3081528"/>
            <a:ext cx="4700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friends, see their public activity in your feed.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19088" y="3749040"/>
            <a:ext cx="5120640" cy="969264"/>
          </a:xfrm>
          <a:prstGeom prst="roundRect">
            <a:avLst>
              <a:gd name="adj" fmla="val 566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419088" y="3749040"/>
            <a:ext cx="45720" cy="9692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675120" y="387705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and image-first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4197096"/>
            <a:ext cx="4700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Dark, mobile-native. Food photography does the talking.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19088" y="4864608"/>
            <a:ext cx="5120640" cy="969264"/>
          </a:xfrm>
          <a:prstGeom prst="roundRect">
            <a:avLst>
              <a:gd name="adj" fmla="val 566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419088" y="4864608"/>
            <a:ext cx="45720" cy="969264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675120" y="499262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repetition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5312664"/>
            <a:ext cx="4700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enough to use at every meal, not just special ones.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CORE LOOP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entire product, in six steps</a:t>
            </a:r>
            <a:endParaRPr lang="en-US" sz="30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640080" y="1188720"/>
            <a:ext cx="89474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else exists to make this loop fast and delightful.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10973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6510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Bitebook — Internal ·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5105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1696669" cy="2395728"/>
          </a:xfrm>
          <a:prstGeom prst="roundRect">
            <a:avLst>
              <a:gd name="adj" fmla="val 323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241527" y="2258568"/>
            <a:ext cx="493776" cy="493776"/>
          </a:xfrm>
          <a:prstGeom prst="ellipse">
            <a:avLst/>
          </a:prstGeom>
          <a:solidFill>
            <a:srgbClr val="1E1E26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241527" y="225856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15137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8096" y="3483864"/>
            <a:ext cx="1440637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dishes nearby or from people you follow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41321" y="2295144"/>
            <a:ext cx="137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83053" y="1965960"/>
            <a:ext cx="1696669" cy="2395728"/>
          </a:xfrm>
          <a:prstGeom prst="roundRect">
            <a:avLst>
              <a:gd name="adj" fmla="val 323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084500" y="2258568"/>
            <a:ext cx="493776" cy="493776"/>
          </a:xfrm>
          <a:prstGeom prst="ellipse">
            <a:avLst/>
          </a:prstGeom>
          <a:solidFill>
            <a:srgbClr val="1E1E26"/>
          </a:solidFill>
          <a:ln w="1905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084500" y="225856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74493" y="2880360"/>
            <a:ext cx="15137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611069" y="3483864"/>
            <a:ext cx="1440637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eat it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84294" y="2295144"/>
            <a:ext cx="137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26026" y="1965960"/>
            <a:ext cx="1696669" cy="2395728"/>
          </a:xfrm>
          <a:prstGeom prst="roundRect">
            <a:avLst>
              <a:gd name="adj" fmla="val 323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927473" y="2258568"/>
            <a:ext cx="493776" cy="493776"/>
          </a:xfrm>
          <a:prstGeom prst="ellipse">
            <a:avLst/>
          </a:prstGeom>
          <a:solidFill>
            <a:srgbClr val="1E1E26"/>
          </a:solidFill>
          <a:ln w="19050">
            <a:solidFill>
              <a:srgbClr val="3FD0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927473" y="225856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FD0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17466" y="2880360"/>
            <a:ext cx="15137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54042" y="3483864"/>
            <a:ext cx="1440637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it to your diary — always private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27268" y="2295144"/>
            <a:ext cx="137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69000" y="1965960"/>
            <a:ext cx="1696669" cy="2395728"/>
          </a:xfrm>
          <a:prstGeom prst="roundRect">
            <a:avLst>
              <a:gd name="adj" fmla="val 323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770446" y="2258568"/>
            <a:ext cx="493776" cy="493776"/>
          </a:xfrm>
          <a:prstGeom prst="ellipse">
            <a:avLst/>
          </a:prstGeom>
          <a:solidFill>
            <a:srgbClr val="1E1E26"/>
          </a:solidFill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770446" y="225856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60440" y="2880360"/>
            <a:ext cx="15137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&amp; Review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297016" y="3483864"/>
            <a:ext cx="1440637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the dish, write it up, set visibility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870241" y="2295144"/>
            <a:ext cx="137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11973" y="1965960"/>
            <a:ext cx="1696669" cy="2395728"/>
          </a:xfrm>
          <a:prstGeom prst="roundRect">
            <a:avLst>
              <a:gd name="adj" fmla="val 323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8613419" y="2258568"/>
            <a:ext cx="493776" cy="493776"/>
          </a:xfrm>
          <a:prstGeom prst="ellipse">
            <a:avLst/>
          </a:prstGeom>
          <a:solidFill>
            <a:srgbClr val="1E1E26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8613419" y="225856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103413" y="2880360"/>
            <a:ext cx="15137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139989" y="3483864"/>
            <a:ext cx="1440637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reviews land in your followers' feeds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713214" y="2295144"/>
            <a:ext cx="137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854946" y="1965960"/>
            <a:ext cx="1696669" cy="2395728"/>
          </a:xfrm>
          <a:prstGeom prst="roundRect">
            <a:avLst>
              <a:gd name="adj" fmla="val 323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10456393" y="2258568"/>
            <a:ext cx="493776" cy="493776"/>
          </a:xfrm>
          <a:prstGeom prst="ellipse">
            <a:avLst/>
          </a:prstGeom>
          <a:solidFill>
            <a:srgbClr val="1E1E26"/>
          </a:solidFill>
          <a:ln w="1905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10456393" y="225856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946386" y="2880360"/>
            <a:ext cx="1513789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9982962" y="3483864"/>
            <a:ext cx="1440637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the graph, see friends' activity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0080" y="4791456"/>
            <a:ext cx="10911535" cy="914400"/>
          </a:xfrm>
          <a:prstGeom prst="roundRect">
            <a:avLst>
              <a:gd name="adj" fmla="val 6000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640080" y="4791456"/>
            <a:ext cx="45720" cy="9144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950976" y="4791456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discover again — the loop feeds itself. Every log makes the next person's discovery better.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STATUS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already built</a:t>
            </a:r>
            <a:endParaRPr lang="en-US" sz="3000" dirty="0"/>
          </a:p>
        </p:txBody>
      </p:sp>
      <p:sp>
        <p:nvSpPr>
          <p:cNvPr id="4" name="Shape 2"/>
          <p:cNvSpPr>
            <a:spLocks/>
          </p:cNvSpPr>
          <p:nvPr/>
        </p:nvSpPr>
        <p:spPr>
          <a:xfrm>
            <a:off x="0" y="6455664"/>
            <a:ext cx="12191695" cy="10973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10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Bitebook — Internal ·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37215" y="65105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17904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1517904"/>
            <a:ext cx="3503066" cy="4572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295442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139696"/>
            <a:ext cx="694944" cy="256032"/>
          </a:xfrm>
          <a:prstGeom prst="roundRect">
            <a:avLst>
              <a:gd name="adj" fmla="val 50000"/>
            </a:avLst>
          </a:prstGeom>
          <a:solidFill>
            <a:srgbClr val="1E1E26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14400" y="2139696"/>
            <a:ext cx="694944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542032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&amp; UX shell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297271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dark-mode UI: Home, Discover, Log, Diary, Profile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on mock data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risk retired before backend spend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4314" y="1517904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344314" y="1517904"/>
            <a:ext cx="3503066" cy="4572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618634" y="1828800"/>
            <a:ext cx="295442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8634" y="2139696"/>
            <a:ext cx="694944" cy="256032"/>
          </a:xfrm>
          <a:prstGeom prst="roundRect">
            <a:avLst>
              <a:gd name="adj" fmla="val 50000"/>
            </a:avLst>
          </a:prstGeom>
          <a:solidFill>
            <a:srgbClr val="1E1E26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618634" y="2139696"/>
            <a:ext cx="694944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18634" y="2542032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backend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618634" y="3017520"/>
            <a:ext cx="297271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Schema, Auth, Storage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 Level Security across all tables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Code-complete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8549" y="1517904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8048549" y="1517904"/>
            <a:ext cx="3503066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8322869" y="1828800"/>
            <a:ext cx="295442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22869" y="2139696"/>
            <a:ext cx="1239012" cy="256032"/>
          </a:xfrm>
          <a:prstGeom prst="roundRect">
            <a:avLst>
              <a:gd name="adj" fmla="val 50000"/>
            </a:avLst>
          </a:prstGeom>
          <a:solidFill>
            <a:srgbClr val="1E1E26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322869" y="2139696"/>
            <a:ext cx="1239012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STARTED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22869" y="2542032"/>
            <a:ext cx="29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data wiring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22869" y="3017520"/>
            <a:ext cx="297271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mock data screen by screen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a restaurant data provider</a:t>
            </a:r>
            <a:endParaRPr lang="en-US" sz="11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Cost-gated before it starts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974336"/>
            <a:ext cx="10911535" cy="969264"/>
          </a:xfrm>
          <a:prstGeom prst="roundRect">
            <a:avLst>
              <a:gd name="adj" fmla="val 5660"/>
            </a:avLst>
          </a:prstGeom>
          <a:solidFill>
            <a:srgbClr val="241C0E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40080" y="4974336"/>
            <a:ext cx="45720" cy="9692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950976" y="5102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 clear on status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50976" y="5413248"/>
            <a:ext cx="10271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backend is code-complete but has not yet run against a live database. A runtime verification pass is required before go-live.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·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 in the MVP</a:t>
            </a:r>
            <a:endParaRPr lang="en-US" sz="30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640080" y="1188720"/>
            <a:ext cx="89474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scope, not aspiration — every item maps to an existing database table today.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10973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6510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Bitebook — Internal ·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5105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515258" cy="1828800"/>
          </a:xfrm>
          <a:prstGeom prst="roundRect">
            <a:avLst>
              <a:gd name="adj" fmla="val 300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14400" y="216712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14400" y="2642616"/>
            <a:ext cx="296661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food diary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081528"/>
            <a:ext cx="29666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private log of every dish eaten.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8218" y="1874520"/>
            <a:ext cx="3515258" cy="1828800"/>
          </a:xfrm>
          <a:prstGeom prst="roundRect">
            <a:avLst>
              <a:gd name="adj" fmla="val 300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612538" y="216712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612538" y="2642616"/>
            <a:ext cx="296661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Ratings &amp; reviews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2538" y="3081528"/>
            <a:ext cx="29666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Dish-level, with photos and configurable visibility.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36357" y="1874520"/>
            <a:ext cx="3515258" cy="1828800"/>
          </a:xfrm>
          <a:prstGeom prst="roundRect">
            <a:avLst>
              <a:gd name="adj" fmla="val 300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310677" y="216712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3FD0C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310677" y="2642616"/>
            <a:ext cx="296661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 feed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10677" y="3081528"/>
            <a:ext cx="29666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Nearby restaurants and trending dishes.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959352"/>
            <a:ext cx="3515258" cy="1828800"/>
          </a:xfrm>
          <a:prstGeom prst="roundRect">
            <a:avLst>
              <a:gd name="adj" fmla="val 300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914400" y="42519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14400" y="4727448"/>
            <a:ext cx="296661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graph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5166360"/>
            <a:ext cx="29666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friends; their public activity fills your home feed.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38218" y="3959352"/>
            <a:ext cx="3515258" cy="1828800"/>
          </a:xfrm>
          <a:prstGeom prst="roundRect">
            <a:avLst>
              <a:gd name="adj" fmla="val 300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612538" y="42519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6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612538" y="4727448"/>
            <a:ext cx="296661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Want to Eat lists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12538" y="5166360"/>
            <a:ext cx="29666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dishes and build user-curated lists.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36357" y="3959352"/>
            <a:ext cx="3515258" cy="1828800"/>
          </a:xfrm>
          <a:prstGeom prst="roundRect">
            <a:avLst>
              <a:gd name="adj" fmla="val 300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8310677" y="42519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8310677" y="4727448"/>
            <a:ext cx="296661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Preference onboarding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10677" y="5166360"/>
            <a:ext cx="29666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Cuisine preferences that feed a future recommendation engine.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·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vendors, one client, one backend</a:t>
            </a:r>
            <a:endParaRPr lang="en-US" sz="3000" dirty="0"/>
          </a:p>
        </p:txBody>
      </p:sp>
      <p:sp>
        <p:nvSpPr>
          <p:cNvPr id="4" name="Shape 2"/>
          <p:cNvSpPr>
            <a:spLocks/>
          </p:cNvSpPr>
          <p:nvPr/>
        </p:nvSpPr>
        <p:spPr>
          <a:xfrm>
            <a:off x="0" y="6455664"/>
            <a:ext cx="12191695" cy="10973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10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Bitebook — Internal ·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37215" y="65105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17904"/>
            <a:ext cx="5346040" cy="3017520"/>
          </a:xfrm>
          <a:prstGeom prst="roundRect">
            <a:avLst>
              <a:gd name="adj" fmla="val 1818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1517904"/>
            <a:ext cx="5346040" cy="45720"/>
          </a:xfrm>
          <a:prstGeom prst="rect">
            <a:avLst/>
          </a:prstGeom>
          <a:solidFill>
            <a:srgbClr val="3FD0C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69264" y="1865376"/>
            <a:ext cx="470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3FD0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9264" y="2322576"/>
            <a:ext cx="468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 + Expo SDK 57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9264" y="2816352"/>
            <a:ext cx="4687672" cy="7315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69264" y="2834640"/>
            <a:ext cx="468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 Router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9264" y="3328416"/>
            <a:ext cx="4687672" cy="7315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69264" y="3346704"/>
            <a:ext cx="468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(strict)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9264" y="3840480"/>
            <a:ext cx="4687672" cy="7315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69264" y="3858768"/>
            <a:ext cx="468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NativeWind / Tailwind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05576" y="1517904"/>
            <a:ext cx="5346040" cy="3017520"/>
          </a:xfrm>
          <a:prstGeom prst="roundRect">
            <a:avLst>
              <a:gd name="adj" fmla="val 1818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205576" y="1517904"/>
            <a:ext cx="5346040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534760" y="1865376"/>
            <a:ext cx="470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4760" y="2322576"/>
            <a:ext cx="468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4760" y="2816352"/>
            <a:ext cx="4687672" cy="7315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534760" y="2834640"/>
            <a:ext cx="468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17 + PostGIS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34760" y="3328416"/>
            <a:ext cx="4687672" cy="7315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534760" y="3346704"/>
            <a:ext cx="468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· Storage · Edge Functions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34760" y="3840480"/>
            <a:ext cx="4687672" cy="7315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534760" y="3858768"/>
            <a:ext cx="468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 Level Security throughout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4791456"/>
            <a:ext cx="3515258" cy="1152144"/>
          </a:xfrm>
          <a:prstGeom prst="roundRect">
            <a:avLst>
              <a:gd name="adj" fmla="val 4762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14400" y="4992624"/>
            <a:ext cx="29666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" y="5303520"/>
            <a:ext cx="29666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 Build / Submit / Update — iOS + Android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38218" y="4791456"/>
            <a:ext cx="3515258" cy="1152144"/>
          </a:xfrm>
          <a:prstGeom prst="roundRect">
            <a:avLst>
              <a:gd name="adj" fmla="val 4762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612538" y="4992624"/>
            <a:ext cx="29666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12538" y="5303520"/>
            <a:ext cx="29666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export via Vercel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36357" y="4791456"/>
            <a:ext cx="3515258" cy="1152144"/>
          </a:xfrm>
          <a:prstGeom prst="roundRect">
            <a:avLst>
              <a:gd name="adj" fmla="val 4762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8310677" y="4992624"/>
            <a:ext cx="296661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DISCIPLINE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310677" y="5303520"/>
            <a:ext cx="29666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 dependency set; data access centralised in one place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·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backend, no secrets in the app</a:t>
            </a:r>
            <a:endParaRPr lang="en-US" sz="3000" dirty="0"/>
          </a:p>
        </p:txBody>
      </p:sp>
      <p:sp>
        <p:nvSpPr>
          <p:cNvPr id="4" name="Shape 2"/>
          <p:cNvSpPr>
            <a:spLocks/>
          </p:cNvSpPr>
          <p:nvPr/>
        </p:nvSpPr>
        <p:spPr>
          <a:xfrm>
            <a:off x="0" y="6455664"/>
            <a:ext cx="12191695" cy="10973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10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Bitebook — Internal ·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37215" y="65105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68096" y="1572768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 Build / Update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8096" y="1819656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OTA updates · iOS + Android builds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265615" y="1481328"/>
            <a:ext cx="2286000" cy="713232"/>
          </a:xfrm>
          <a:prstGeom prst="roundRect">
            <a:avLst>
              <a:gd name="adj" fmla="val 7692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393631" y="1572768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393631" y="1819656"/>
            <a:ext cx="2029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export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46120" y="1481328"/>
            <a:ext cx="5696712" cy="713232"/>
          </a:xfrm>
          <a:prstGeom prst="roundRect">
            <a:avLst>
              <a:gd name="adj" fmla="val 7692"/>
            </a:avLst>
          </a:prstGeom>
          <a:solidFill>
            <a:srgbClr val="1E1E26"/>
          </a:solidFill>
          <a:ln w="12700">
            <a:solidFill>
              <a:srgbClr val="3FD0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37560" y="1554480"/>
            <a:ext cx="5513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D0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App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828800"/>
            <a:ext cx="5513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iOS · Android · Web   —   Expo Router + React Native + NativeWind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0" y="1837944"/>
            <a:ext cx="320040" cy="0"/>
          </a:xfrm>
          <a:prstGeom prst="line">
            <a:avLst/>
          </a:prstGeom>
          <a:noFill/>
          <a:ln w="15875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942832" y="1837944"/>
            <a:ext cx="322783" cy="0"/>
          </a:xfrm>
          <a:prstGeom prst="line">
            <a:avLst/>
          </a:prstGeom>
          <a:noFill/>
          <a:ln w="15875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095390" y="2194560"/>
            <a:ext cx="0" cy="566928"/>
          </a:xfrm>
          <a:prstGeom prst="line">
            <a:avLst/>
          </a:prstGeom>
          <a:noFill/>
          <a:ln w="19050">
            <a:solidFill>
              <a:srgbClr val="3FD0C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309360" y="230428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JS SDK — public anon key only. No secrets ship in the app.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737360" y="2798064"/>
            <a:ext cx="8714232" cy="2212848"/>
          </a:xfrm>
          <a:prstGeom prst="roundRect">
            <a:avLst>
              <a:gd name="adj" fmla="val 2479"/>
            </a:avLst>
          </a:prstGeom>
          <a:solidFill>
            <a:srgbClr val="121218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956816" y="2926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BACKEND — single “bitebook” project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956816" y="3310128"/>
            <a:ext cx="1945386" cy="1481328"/>
          </a:xfrm>
          <a:prstGeom prst="roundRect">
            <a:avLst>
              <a:gd name="adj" fmla="val 370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048256" y="3493008"/>
            <a:ext cx="176250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048256" y="4005072"/>
            <a:ext cx="176250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+ password</a:t>
            </a:r>
            <a:endParaRPr lang="en-US" sz="9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66794" y="3310128"/>
            <a:ext cx="1945386" cy="1481328"/>
          </a:xfrm>
          <a:prstGeom prst="roundRect">
            <a:avLst>
              <a:gd name="adj" fmla="val 370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158234" y="3493008"/>
            <a:ext cx="176250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 17 + PostGIS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58234" y="4005072"/>
            <a:ext cx="176250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tables · RLS on all</a:t>
            </a:r>
            <a:endParaRPr lang="en-US" sz="9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 search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76772" y="3310128"/>
            <a:ext cx="1945386" cy="1481328"/>
          </a:xfrm>
          <a:prstGeom prst="roundRect">
            <a:avLst>
              <a:gd name="adj" fmla="val 370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268212" y="3493008"/>
            <a:ext cx="176250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68212" y="4005072"/>
            <a:ext cx="176250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Avatars, dish &amp;</a:t>
            </a:r>
            <a:endParaRPr lang="en-US" sz="9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photos (private)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86750" y="3310128"/>
            <a:ext cx="1945386" cy="1481328"/>
          </a:xfrm>
          <a:prstGeom prst="roundRect">
            <a:avLst>
              <a:gd name="adj" fmla="val 370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8378190" y="3493008"/>
            <a:ext cx="176250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Functions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78190" y="4005072"/>
            <a:ext cx="176250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places-import</a:t>
            </a:r>
            <a:endParaRPr lang="en-US" sz="9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point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418320" y="5010912"/>
            <a:ext cx="0" cy="384048"/>
          </a:xfrm>
          <a:prstGeom prst="line">
            <a:avLst/>
          </a:prstGeom>
          <a:noFill/>
          <a:ln w="15875">
            <a:solidFill>
              <a:srgbClr val="6E6E7A"/>
            </a:solidFill>
            <a:prstDash val="dash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589520" y="5394960"/>
            <a:ext cx="3657600" cy="731520"/>
          </a:xfrm>
          <a:prstGeom prst="roundRect">
            <a:avLst>
              <a:gd name="adj" fmla="val 7500"/>
            </a:avLst>
          </a:prstGeom>
          <a:solidFill>
            <a:srgbClr val="0A0A0B"/>
          </a:solidFill>
          <a:ln w="12700">
            <a:solidFill>
              <a:srgbClr val="6E6E7A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7680960" y="54772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Places API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680960" y="572414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3, optional — usage-gated, not yet enabled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0080" y="5394960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secrets in the client — only the public anon key ships.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" y="5705856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project provides Auth, Database, Storage and Functions.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0080" y="6016752"/>
            <a:ext cx="6675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data is fixture-only until Phase 3.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·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Enforced by Postgres, not by app code</a:t>
            </a:r>
            <a:endParaRPr lang="en-US" sz="3000" dirty="0"/>
          </a:p>
        </p:txBody>
      </p:sp>
      <p:sp>
        <p:nvSpPr>
          <p:cNvPr id="4" name="Shape 2"/>
          <p:cNvSpPr>
            <a:spLocks/>
          </p:cNvSpPr>
          <p:nvPr/>
        </p:nvSpPr>
        <p:spPr>
          <a:xfrm>
            <a:off x="0" y="6455664"/>
            <a:ext cx="12191695" cy="10973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10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Bitebook — Internal ·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37215" y="65105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17904"/>
            <a:ext cx="3566160" cy="4425696"/>
          </a:xfrm>
          <a:prstGeom prst="roundRect">
            <a:avLst>
              <a:gd name="adj" fmla="val 1538"/>
            </a:avLst>
          </a:prstGeom>
          <a:solidFill>
            <a:srgbClr val="1E1E26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69264" y="1773936"/>
            <a:ext cx="292608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969264" y="2962656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 — Row Level Security on every one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9264" y="4206240"/>
            <a:ext cx="1005840" cy="27432"/>
          </a:xfrm>
          <a:prstGeom prst="rect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69264" y="4425696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disabled for convenience. If a rule matters, it lives in the database — not in a screen.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43984" y="1517904"/>
            <a:ext cx="7114032" cy="987552"/>
          </a:xfrm>
          <a:prstGeom prst="roundRect">
            <a:avLst>
              <a:gd name="adj" fmla="val 5556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443984" y="1517904"/>
            <a:ext cx="45720" cy="987552"/>
          </a:xfrm>
          <a:prstGeom prst="rect">
            <a:avLst/>
          </a:prstGeom>
          <a:solidFill>
            <a:srgbClr val="3FD0C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718304" y="165506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Visibility is a database rule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18304" y="1975104"/>
            <a:ext cx="66934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/ followers / private is enforced at the database level, not just in the app.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43984" y="2651760"/>
            <a:ext cx="7114032" cy="987552"/>
          </a:xfrm>
          <a:prstGeom prst="roundRect">
            <a:avLst>
              <a:gd name="adj" fmla="val 5556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443984" y="2651760"/>
            <a:ext cx="45720" cy="987552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718304" y="278892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Photos are genuinely private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18304" y="3108960"/>
            <a:ext cx="66934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photos sit in a private bucket — access is policy-checked, not hidden behind a secret URL.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43984" y="3785616"/>
            <a:ext cx="7114032" cy="987552"/>
          </a:xfrm>
          <a:prstGeom prst="roundRect">
            <a:avLst>
              <a:gd name="adj" fmla="val 5556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443984" y="3785616"/>
            <a:ext cx="45720" cy="987552"/>
          </a:xfrm>
          <a:prstGeom prst="rect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718304" y="392277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Counters can't be forged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18304" y="4242816"/>
            <a:ext cx="66934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Likes, ratings and follower counts are trigger-maintained only, never client-writable.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3984" y="4919472"/>
            <a:ext cx="7114032" cy="987552"/>
          </a:xfrm>
          <a:prstGeom prst="roundRect">
            <a:avLst>
              <a:gd name="adj" fmla="val 5556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443984" y="4919472"/>
            <a:ext cx="45720" cy="9875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718304" y="505663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service key never ships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18304" y="5376672"/>
            <a:ext cx="66934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anon / public key reaches client code.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· COSTS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costs to run, stage by stage</a:t>
            </a:r>
            <a:endParaRPr lang="en-US" sz="30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640080" y="1188720"/>
            <a:ext cx="89474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vendors — Supabase and Expo/EAS — plus fixed app-store fees. Costs scale with MAU and usage.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10973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>
            <a:spLocks/>
          </p:cNvSpPr>
          <p:nvPr/>
        </p:nvSpPr>
        <p:spPr>
          <a:xfrm>
            <a:off x="640080" y="6510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Bitebook — Internal ·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5105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847088"/>
            <a:ext cx="2590724" cy="3291840"/>
          </a:xfrm>
          <a:prstGeom prst="roundRect">
            <a:avLst>
              <a:gd name="adj" fmla="val 2118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40080" y="1847088"/>
            <a:ext cx="2590724" cy="4572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77824" y="2103120"/>
            <a:ext cx="21152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7824" y="2414016"/>
            <a:ext cx="21152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· &lt; 100 MAU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59536" y="2688336"/>
            <a:ext cx="23164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~$8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77824" y="3090672"/>
            <a:ext cx="21152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month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77824" y="3383280"/>
            <a:ext cx="2115236" cy="7315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77824" y="3529584"/>
            <a:ext cx="21152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77824" y="3712464"/>
            <a:ext cx="21335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77824" y="4059936"/>
            <a:ext cx="21152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 EAS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77824" y="4242816"/>
            <a:ext cx="21335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7824" y="4590288"/>
            <a:ext cx="21152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FEES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77824" y="4773168"/>
            <a:ext cx="21335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~$8/mo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13684" y="1847088"/>
            <a:ext cx="2590724" cy="3291840"/>
          </a:xfrm>
          <a:prstGeom prst="roundRect">
            <a:avLst>
              <a:gd name="adj" fmla="val 2118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413684" y="1847088"/>
            <a:ext cx="2590724" cy="45720"/>
          </a:xfrm>
          <a:prstGeom prst="rect">
            <a:avLst/>
          </a:prstGeom>
          <a:solidFill>
            <a:srgbClr val="3FD0C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651428" y="2103120"/>
            <a:ext cx="21152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beta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1428" y="2414016"/>
            <a:ext cx="21152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~1K–5K MAU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33140" y="2688336"/>
            <a:ext cx="23164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FD0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$50–70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3651428" y="3090672"/>
            <a:ext cx="21152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month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1428" y="3383280"/>
            <a:ext cx="2115236" cy="7315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651428" y="3529584"/>
            <a:ext cx="21152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1428" y="3712464"/>
            <a:ext cx="21335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— $25/mo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1428" y="4059936"/>
            <a:ext cx="21152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 EAS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1428" y="4242816"/>
            <a:ext cx="21335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Starter — $19/mo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1428" y="4590288"/>
            <a:ext cx="21152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FEES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1428" y="4773168"/>
            <a:ext cx="21335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Play $25 once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87288" y="1847088"/>
            <a:ext cx="2590724" cy="3291840"/>
          </a:xfrm>
          <a:prstGeom prst="roundRect">
            <a:avLst>
              <a:gd name="adj" fmla="val 2118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187288" y="1847088"/>
            <a:ext cx="2590724" cy="457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425032" y="2103120"/>
            <a:ext cx="21152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 growth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25032" y="2414016"/>
            <a:ext cx="21152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~10K–50K MAU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06744" y="2688336"/>
            <a:ext cx="23164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$80–300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6425032" y="3090672"/>
            <a:ext cx="21152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month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25032" y="3383280"/>
            <a:ext cx="2115236" cy="7315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425032" y="3529584"/>
            <a:ext cx="21152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25032" y="3712464"/>
            <a:ext cx="21335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~$50–100/mo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25032" y="4059936"/>
            <a:ext cx="21152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 EAS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25032" y="4242816"/>
            <a:ext cx="21335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~$20–200/mo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25032" y="4590288"/>
            <a:ext cx="21152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FEES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25032" y="4773168"/>
            <a:ext cx="21335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~$8/mo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960891" y="1847088"/>
            <a:ext cx="2590724" cy="3291840"/>
          </a:xfrm>
          <a:prstGeom prst="roundRect">
            <a:avLst>
              <a:gd name="adj" fmla="val 2118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8960891" y="1847088"/>
            <a:ext cx="2590724" cy="45720"/>
          </a:xfrm>
          <a:prstGeom prst="rect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9198635" y="2103120"/>
            <a:ext cx="21152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198635" y="2414016"/>
            <a:ext cx="21152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100K+ MAU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180347" y="2688336"/>
            <a:ext cx="23164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$350–650+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98635" y="3090672"/>
            <a:ext cx="21152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month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198635" y="3383280"/>
            <a:ext cx="2115236" cy="7315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9198635" y="3529584"/>
            <a:ext cx="21152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9198635" y="3712464"/>
            <a:ext cx="21335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~$150–400+/mo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198635" y="4059936"/>
            <a:ext cx="21152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 EAS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9198635" y="4242816"/>
            <a:ext cx="21335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$199/mo + usage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198635" y="4590288"/>
            <a:ext cx="21152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FEES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9198635" y="4773168"/>
            <a:ext cx="21335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~$8/mo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40080" y="5321808"/>
            <a:ext cx="10911535" cy="859536"/>
          </a:xfrm>
          <a:prstGeom prst="roundRect">
            <a:avLst>
              <a:gd name="adj" fmla="val 6383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640080" y="5321808"/>
            <a:ext cx="45720" cy="859536"/>
          </a:xfrm>
          <a:prstGeom prst="rect">
            <a:avLst/>
          </a:prstGeom>
          <a:solidFill>
            <a:srgbClr val="6E6E7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950976" y="5321808"/>
            <a:ext cx="10271455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estimates from public vendor pricing (Sep 2026) — not vendor quotes. Re-check before budgeting. Google Places API (Phase 3, optional) is usage-based and not yet enabled.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·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sequential steps, not a big-bang rewrite</a:t>
            </a:r>
            <a:endParaRPr lang="en-US" sz="3000" dirty="0"/>
          </a:p>
        </p:txBody>
      </p:sp>
      <p:sp>
        <p:nvSpPr>
          <p:cNvPr id="4" name="Shape 2"/>
          <p:cNvSpPr>
            <a:spLocks/>
          </p:cNvSpPr>
          <p:nvPr/>
        </p:nvSpPr>
        <p:spPr>
          <a:xfrm>
            <a:off x="0" y="6455664"/>
            <a:ext cx="12191695" cy="10973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10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Bitebook — Internal ·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37215" y="65105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88720" y="2066544"/>
            <a:ext cx="9814255" cy="27432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25632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75422" y="1933956"/>
            <a:ext cx="292608" cy="292608"/>
          </a:xfrm>
          <a:prstGeom prst="ellipse">
            <a:avLst/>
          </a:prstGeom>
          <a:solidFill>
            <a:srgbClr val="0A0A0B"/>
          </a:solidFill>
          <a:ln w="317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40080" y="2487168"/>
            <a:ext cx="2563292" cy="2743200"/>
          </a:xfrm>
          <a:prstGeom prst="roundRect">
            <a:avLst>
              <a:gd name="adj" fmla="val 214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77824" y="2761488"/>
            <a:ext cx="20878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the backend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7824" y="3566160"/>
            <a:ext cx="548640" cy="2286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77824" y="3767328"/>
            <a:ext cx="20878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Phase 2 against a live Supabase project — migrations, RLS, pgTAP tests.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22828" y="1463040"/>
            <a:ext cx="25632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3FD0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58170" y="1933956"/>
            <a:ext cx="292608" cy="292608"/>
          </a:xfrm>
          <a:prstGeom prst="ellipse">
            <a:avLst/>
          </a:prstGeom>
          <a:solidFill>
            <a:srgbClr val="0A0A0B"/>
          </a:solidFill>
          <a:ln w="31750">
            <a:solidFill>
              <a:srgbClr val="3FD0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422828" y="2487168"/>
            <a:ext cx="2563292" cy="2743200"/>
          </a:xfrm>
          <a:prstGeom prst="roundRect">
            <a:avLst>
              <a:gd name="adj" fmla="val 214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660572" y="2761488"/>
            <a:ext cx="20878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 real data in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60572" y="3566160"/>
            <a:ext cx="548640" cy="22860"/>
          </a:xfrm>
          <a:prstGeom prst="rect">
            <a:avLst/>
          </a:prstGeom>
          <a:solidFill>
            <a:srgbClr val="3FD0C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660572" y="3767328"/>
            <a:ext cx="20878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mock data in the Phase 1 UI, screen by screen.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05576" y="1463040"/>
            <a:ext cx="25632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40917" y="1933956"/>
            <a:ext cx="292608" cy="292608"/>
          </a:xfrm>
          <a:prstGeom prst="ellipse">
            <a:avLst/>
          </a:prstGeom>
          <a:solidFill>
            <a:srgbClr val="0A0A0B"/>
          </a:solidFill>
          <a:ln w="317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205576" y="2487168"/>
            <a:ext cx="2563292" cy="2743200"/>
          </a:xfrm>
          <a:prstGeom prst="roundRect">
            <a:avLst>
              <a:gd name="adj" fmla="val 214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443320" y="2761488"/>
            <a:ext cx="20878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provider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3320" y="3566160"/>
            <a:ext cx="548640" cy="2286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443320" y="3767328"/>
            <a:ext cx="20878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behind existing cost controls: debounced search, 5-minute cache, minimal field mask.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988323" y="1463040"/>
            <a:ext cx="25632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123665" y="1933956"/>
            <a:ext cx="292608" cy="292608"/>
          </a:xfrm>
          <a:prstGeom prst="ellipse">
            <a:avLst/>
          </a:prstGeom>
          <a:solidFill>
            <a:srgbClr val="0A0A0B"/>
          </a:solidFill>
          <a:ln w="31750">
            <a:solidFill>
              <a:srgbClr val="FF6B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8988323" y="2487168"/>
            <a:ext cx="2563292" cy="2743200"/>
          </a:xfrm>
          <a:prstGeom prst="roundRect">
            <a:avLst>
              <a:gd name="adj" fmla="val 2140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9226067" y="2761488"/>
            <a:ext cx="20878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 beta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226067" y="3566160"/>
            <a:ext cx="548640" cy="22860"/>
          </a:xfrm>
          <a:prstGeom prst="rect">
            <a:avLst/>
          </a:prstGeom>
          <a:solidFill>
            <a:srgbClr val="FF6B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9226067" y="3767328"/>
            <a:ext cx="20878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small user group before public app-store submission.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· RISKS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questions worth raising now</a:t>
            </a:r>
            <a:endParaRPr lang="en-US" sz="3000" dirty="0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640080" y="1188720"/>
            <a:ext cx="894745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to surface these here than discover them later.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6455664"/>
            <a:ext cx="12191695" cy="10973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6510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Bitebook — Internal ·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37215" y="65105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883664"/>
            <a:ext cx="10911535" cy="932688"/>
          </a:xfrm>
          <a:prstGeom prst="roundRect">
            <a:avLst>
              <a:gd name="adj" fmla="val 5882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40080" y="1883664"/>
            <a:ext cx="45720" cy="932688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50976" y="19933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is unverified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50976" y="2395728"/>
            <a:ext cx="694944" cy="256032"/>
          </a:xfrm>
          <a:prstGeom prst="roundRect">
            <a:avLst>
              <a:gd name="adj" fmla="val 50000"/>
            </a:avLst>
          </a:prstGeom>
          <a:solidFill>
            <a:srgbClr val="1E1E26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950976" y="2395728"/>
            <a:ext cx="694944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80560" y="1883664"/>
            <a:ext cx="6751015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has never run against a live database. Must be verified before any real user data touches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962656"/>
            <a:ext cx="10911535" cy="932688"/>
          </a:xfrm>
          <a:prstGeom prst="roundRect">
            <a:avLst>
              <a:gd name="adj" fmla="val 5882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40080" y="2962656"/>
            <a:ext cx="45720" cy="9326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50976" y="30723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restaurant data yet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50976" y="3474720"/>
            <a:ext cx="850392" cy="256032"/>
          </a:xfrm>
          <a:prstGeom prst="roundRect">
            <a:avLst>
              <a:gd name="adj" fmla="val 50000"/>
            </a:avLst>
          </a:prstGeom>
          <a:solidFill>
            <a:srgbClr val="1E1E26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50976" y="3474720"/>
            <a:ext cx="850392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80560" y="2962656"/>
            <a:ext cx="6751015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 and search run on fixture data until a provider is integrated in Phase 3.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041648"/>
            <a:ext cx="10911535" cy="932688"/>
          </a:xfrm>
          <a:prstGeom prst="roundRect">
            <a:avLst>
              <a:gd name="adj" fmla="val 5882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640080" y="4041648"/>
            <a:ext cx="45720" cy="9326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50976" y="41513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review timelines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50976" y="4553712"/>
            <a:ext cx="850392" cy="256032"/>
          </a:xfrm>
          <a:prstGeom prst="roundRect">
            <a:avLst>
              <a:gd name="adj" fmla="val 50000"/>
            </a:avLst>
          </a:prstGeom>
          <a:solidFill>
            <a:srgbClr val="1E1E26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50976" y="4553712"/>
            <a:ext cx="850392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480560" y="4041648"/>
            <a:ext cx="6751015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and Google review windows are outside our control — build slack into any launch date.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120640"/>
            <a:ext cx="10911535" cy="932688"/>
          </a:xfrm>
          <a:prstGeom prst="roundRect">
            <a:avLst>
              <a:gd name="adj" fmla="val 5882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40080" y="5120640"/>
            <a:ext cx="45720" cy="932688"/>
          </a:xfrm>
          <a:prstGeom prst="rect">
            <a:avLst/>
          </a:prstGeom>
          <a:solidFill>
            <a:srgbClr val="3FD0C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50976" y="52303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spike on virality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50976" y="5632704"/>
            <a:ext cx="772668" cy="256032"/>
          </a:xfrm>
          <a:prstGeom prst="roundRect">
            <a:avLst>
              <a:gd name="adj" fmla="val 50000"/>
            </a:avLst>
          </a:prstGeom>
          <a:solidFill>
            <a:srgbClr val="1E1E26"/>
          </a:solidFill>
          <a:ln w="12700">
            <a:solidFill>
              <a:srgbClr val="3FD0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950976" y="5632704"/>
            <a:ext cx="772668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3FD0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80560" y="5120640"/>
            <a:ext cx="6751015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Estimates assume moderate usage. Set Supabase and EAS usage alerts before public launch.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· ASKS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need from you today</a:t>
            </a:r>
            <a:endParaRPr lang="en-US" sz="3000" dirty="0"/>
          </a:p>
        </p:txBody>
      </p:sp>
      <p:sp>
        <p:nvSpPr>
          <p:cNvPr id="4" name="Shape 2"/>
          <p:cNvSpPr>
            <a:spLocks/>
          </p:cNvSpPr>
          <p:nvPr/>
        </p:nvSpPr>
        <p:spPr>
          <a:xfrm>
            <a:off x="0" y="6455664"/>
            <a:ext cx="12191695" cy="10973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10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Bitebook — Internal ·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37215" y="65105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327752" cy="1956816"/>
          </a:xfrm>
          <a:prstGeom prst="roundRect">
            <a:avLst>
              <a:gd name="adj" fmla="val 280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50976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0976" y="2377440"/>
            <a:ext cx="470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store fees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0976" y="2816352"/>
            <a:ext cx="4705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Developer Program and Google Play — fixed costs that unlock device testing and store submission.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23864" y="1572768"/>
            <a:ext cx="5327752" cy="1956816"/>
          </a:xfrm>
          <a:prstGeom prst="roundRect">
            <a:avLst>
              <a:gd name="adj" fmla="val 280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534760" y="1828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34760" y="2377440"/>
            <a:ext cx="470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Decide Supabase Pro timing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4760" y="2816352"/>
            <a:ext cx="4705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/ no-go on the upgrade. Needed before any real, non-demo user data.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85616"/>
            <a:ext cx="5327752" cy="1956816"/>
          </a:xfrm>
          <a:prstGeom prst="roundRect">
            <a:avLst>
              <a:gd name="adj" fmla="val 280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50976" y="40416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D0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50976" y="4590288"/>
            <a:ext cx="470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off Phase 3 scope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0976" y="5029200"/>
            <a:ext cx="4705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data wiring plus restaurant provider selection.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23864" y="3785616"/>
            <a:ext cx="5327752" cy="1956816"/>
          </a:xfrm>
          <a:prstGeom prst="roundRect">
            <a:avLst>
              <a:gd name="adj" fmla="val 2804"/>
            </a:avLst>
          </a:prstGeom>
          <a:solidFill>
            <a:srgbClr val="16161C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534760" y="40416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34760" y="4590288"/>
            <a:ext cx="470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Volunteer for closed beta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4760" y="5029200"/>
            <a:ext cx="4705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small test group, once Phase 3 lands.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109115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4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11535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find the detail</a:t>
            </a:r>
            <a:endParaRPr lang="en-US" sz="3000" dirty="0"/>
          </a:p>
        </p:txBody>
      </p:sp>
      <p:sp>
        <p:nvSpPr>
          <p:cNvPr id="4" name="Shape 2"/>
          <p:cNvSpPr>
            <a:spLocks/>
          </p:cNvSpPr>
          <p:nvPr/>
        </p:nvSpPr>
        <p:spPr>
          <a:xfrm>
            <a:off x="0" y="6455664"/>
            <a:ext cx="12191695" cy="10973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651052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Bitebook — Internal ·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637215" y="65105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E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700784"/>
            <a:ext cx="7711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github.com/Harish-M2/bitebook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267712"/>
            <a:ext cx="10911535" cy="7315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handover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2633472"/>
            <a:ext cx="7711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docs/COPILOT_HANDOVER.md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10911535" cy="7315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3566160"/>
            <a:ext cx="7711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docs/database-architecture.md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133088"/>
            <a:ext cx="10911535" cy="7315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0080" y="44988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/ UX spec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4498848"/>
            <a:ext cx="7711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docs/Bitebook_Build_Instructions.md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065776"/>
            <a:ext cx="10911535" cy="7315"/>
          </a:xfrm>
          <a:prstGeom prst="rect">
            <a:avLst/>
          </a:prstGeom>
          <a:solidFill>
            <a:srgbClr val="2E2E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008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it. Rate it. Remember it.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3567</Words>
  <Application>Microsoft Office PowerPoint</Application>
  <PresentationFormat>Widescreen</PresentationFormat>
  <Paragraphs>336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Harish Mistry</cp:lastModifiedBy>
  <cp:revision>2</cp:revision>
  <dcterms:created xsi:type="dcterms:W3CDTF">2013-01-27T09:14:16Z</dcterms:created>
  <dcterms:modified xsi:type="dcterms:W3CDTF">2026-10-01T08:28:06Z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c2fa631-0d69-435b-8f58-124ad5e1685b_Enabled">
    <vt:lpwstr>true</vt:lpwstr>
  </property>
  <property fmtid="{D5CDD505-2E9C-101B-9397-08002B2CF9AE}" pid="3" name="MSIP_Label_ec2fa631-0d69-435b-8f58-124ad5e1685b_SetDate">
    <vt:lpwstr>2026-10-01T08:28:03Z</vt:lpwstr>
  </property>
  <property fmtid="{D5CDD505-2E9C-101B-9397-08002B2CF9AE}" pid="4" name="MSIP_Label_ec2fa631-0d69-435b-8f58-124ad5e1685b_Method">
    <vt:lpwstr>Standard</vt:lpwstr>
  </property>
  <property fmtid="{D5CDD505-2E9C-101B-9397-08002B2CF9AE}" pid="5" name="MSIP_Label_ec2fa631-0d69-435b-8f58-124ad5e1685b_Name">
    <vt:lpwstr>Internal (Default))</vt:lpwstr>
  </property>
  <property fmtid="{D5CDD505-2E9C-101B-9397-08002B2CF9AE}" pid="6" name="MSIP_Label_ec2fa631-0d69-435b-8f58-124ad5e1685b_SiteId">
    <vt:lpwstr>1caa43b8-bf09-48b6-9b3c-bd5a56fec019</vt:lpwstr>
  </property>
  <property fmtid="{D5CDD505-2E9C-101B-9397-08002B2CF9AE}" pid="7" name="MSIP_Label_ec2fa631-0d69-435b-8f58-124ad5e1685b_ActionId">
    <vt:lpwstr>a6810510-3b27-48c6-be4f-f914dad1cb86</vt:lpwstr>
  </property>
  <property fmtid="{D5CDD505-2E9C-101B-9397-08002B2CF9AE}" pid="8" name="MSIP_Label_ec2fa631-0d69-435b-8f58-124ad5e1685b_ContentBits">
    <vt:lpwstr>0</vt:lpwstr>
  </property>
  <property fmtid="{D5CDD505-2E9C-101B-9397-08002B2CF9AE}" pid="9" name="MSIP_Label_ec2fa631-0d69-435b-8f58-124ad5e1685b_Tag">
    <vt:lpwstr>10, 3, 0, 1</vt:lpwstr>
  </property>
</Properties>
</file>